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4.png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image" Target="../media/image3.jpeg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2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86384"/>
            <a:ext cx="1078992" cy="310896"/>
          </a:xfrm>
          <a:prstGeom prst="rect">
            <a:avLst/>
          </a:prstGeom>
          <a:solidFill>
            <a:srgbClr val="F4B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9601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0F2233"/>
                </a:solidFill>
                <a:latin typeface="微软雅黑" panose="020B0503020204020204" charset="-122"/>
              </a:rPr>
              <a:t>平台演示稿</a:t>
            </a:r>
            <a:endParaRPr sz="1050" b="1">
              <a:solidFill>
                <a:srgbClr val="0F2233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61264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FFFFFF"/>
                </a:solidFill>
                <a:latin typeface="微软雅黑" panose="020B0503020204020204" charset="-122"/>
              </a:rPr>
              <a:t>VoiceInput Pro</a:t>
            </a:r>
            <a:endParaRPr sz="2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2029968"/>
            <a:ext cx="7132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FFFFFF"/>
                </a:solidFill>
                <a:latin typeface="微软雅黑" panose="020B0503020204020204" charset="-122"/>
              </a:rPr>
              <a:t>一套面向办公与技术场景的智能语音输入工作台
从音频上传、识别优化，到历史沉淀、导出交付，页面与数据链路完整打通。</a:t>
            </a:r>
            <a:endParaRPr sz="18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5925312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ED8E2"/>
                </a:solidFill>
                <a:latin typeface="微软雅黑" panose="020B0503020204020204" charset="-122"/>
              </a:rPr>
              <a:t>适合课堂答辩、项目验收、功能演示</a:t>
            </a:r>
            <a:endParaRPr sz="1150" b="0">
              <a:solidFill>
                <a:srgbClr val="CED8E2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15200" y="932688"/>
            <a:ext cx="4224528" cy="5257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-workbench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2451" y="1005840"/>
            <a:ext cx="3390024" cy="467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43216" y="5733288"/>
            <a:ext cx="396849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微软雅黑" panose="020B0503020204020204" charset="-122"/>
              </a:rPr>
              <a:t>工作台首页实拍</a:t>
            </a:r>
            <a:endParaRPr sz="10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微软雅黑" panose="020B0503020204020204" charset="-122"/>
              </a:rPr>
              <a:t>这套平台解决什么问题</a:t>
            </a:r>
            <a:endParaRPr sz="28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微软雅黑" panose="020B0503020204020204" charset="-122"/>
              </a:rPr>
              <a:t>它不是简单的“语音转文字”，而是把转写、整理、复核和交付串成一条完整工作流。</a:t>
            </a:r>
            <a:endParaRPr sz="11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26517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490472"/>
            <a:ext cx="232257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183B5B"/>
                </a:solidFill>
                <a:latin typeface="微软雅黑" panose="020B0503020204020204" charset="-122"/>
              </a:rPr>
              <a:t>6 类场景</a:t>
            </a:r>
            <a:endParaRPr sz="26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58952" y="1929384"/>
            <a:ext cx="23225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E7490"/>
                </a:solidFill>
                <a:latin typeface="微软雅黑" panose="020B0503020204020204" charset="-122"/>
              </a:rPr>
              <a:t>按场景组织输出</a:t>
            </a:r>
            <a:endParaRPr sz="1100" b="1">
              <a:solidFill>
                <a:srgbClr val="0E7490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8952" y="2240280"/>
            <a:ext cx="2322576" cy="4663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微软雅黑" panose="020B0503020204020204" charset="-122"/>
              </a:rPr>
              <a:t>支持会议纪要、工作汇报、正式表达、Markdown 笔记、代码注释、聊天回复。</a:t>
            </a:r>
            <a:endParaRPr sz="10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401568" y="1325880"/>
            <a:ext cx="26517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490472"/>
            <a:ext cx="232257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183B5B"/>
                </a:solidFill>
                <a:latin typeface="微软雅黑" panose="020B0503020204020204" charset="-122"/>
              </a:rPr>
              <a:t>双文本输出</a:t>
            </a:r>
            <a:endParaRPr sz="26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566160" y="1929384"/>
            <a:ext cx="23225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E7490"/>
                </a:solidFill>
                <a:latin typeface="微软雅黑" panose="020B0503020204020204" charset="-122"/>
              </a:rPr>
              <a:t>原文 + 优化文并行展示</a:t>
            </a:r>
            <a:endParaRPr sz="1100" b="1">
              <a:solidFill>
                <a:srgbClr val="0E7490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66160" y="2240280"/>
            <a:ext cx="2322576" cy="4663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微软雅黑" panose="020B0503020204020204" charset="-122"/>
              </a:rPr>
              <a:t>用户能直接比较识别结果和整理结果，知道系统改了什么。</a:t>
            </a:r>
            <a:endParaRPr sz="10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08776" y="1325880"/>
            <a:ext cx="26517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490472"/>
            <a:ext cx="232257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183B5B"/>
                </a:solidFill>
                <a:latin typeface="微软雅黑" panose="020B0503020204020204" charset="-122"/>
              </a:rPr>
              <a:t>闭环管理</a:t>
            </a:r>
            <a:endParaRPr sz="26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373368" y="1929384"/>
            <a:ext cx="23225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E7490"/>
                </a:solidFill>
                <a:latin typeface="微软雅黑" panose="020B0503020204020204" charset="-122"/>
              </a:rPr>
              <a:t>处理后还能继续用</a:t>
            </a:r>
            <a:endParaRPr sz="1100" b="1">
              <a:solidFill>
                <a:srgbClr val="0E7490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73368" y="2240280"/>
            <a:ext cx="2322576" cy="4663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微软雅黑" panose="020B0503020204020204" charset="-122"/>
              </a:rPr>
              <a:t>结果可以进入历史、参与人工校对、导出成文档，也能进入统计分析。</a:t>
            </a:r>
            <a:endParaRPr sz="10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015984" y="1325880"/>
            <a:ext cx="257860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490472"/>
            <a:ext cx="2249424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183B5B"/>
                </a:solidFill>
                <a:latin typeface="微软雅黑" panose="020B0503020204020204" charset="-122"/>
              </a:rPr>
              <a:t>面向演示</a:t>
            </a:r>
            <a:endParaRPr sz="26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80576" y="1929384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E7490"/>
                </a:solidFill>
                <a:latin typeface="微软雅黑" panose="020B0503020204020204" charset="-122"/>
              </a:rPr>
              <a:t>每个入口都有实际动作</a:t>
            </a:r>
            <a:endParaRPr sz="1100" b="1">
              <a:solidFill>
                <a:srgbClr val="0E7490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180576" y="2240280"/>
            <a:ext cx="2249424" cy="4663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微软雅黑" panose="020B0503020204020204" charset="-122"/>
              </a:rPr>
              <a:t>页面保留的按钮、筛选、导出、统计，都对应后端能力，而不是静态摆设。</a:t>
            </a:r>
            <a:endParaRPr sz="10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9808" y="3246120"/>
            <a:ext cx="54864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6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对普通转写工具来说，输出往往停留在“一段文字”；对这套平台来说，重点是把文字整理成可直接使用的结果。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6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平台适合老师、评审或团队现场查看，因为能清楚看到每一步是怎么走的，数据落到了哪里，后续还能怎么复用。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6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如果把它放到日常办公场景里，最容易落地的用法就是会议纪要、口头汇报整理和技术内容录入。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3127248"/>
            <a:ext cx="475488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8272" y="3346704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0E7490"/>
                </a:solidFill>
                <a:latin typeface="微软雅黑" panose="020B0503020204020204" charset="-122"/>
              </a:rPr>
              <a:t>一句话理解</a:t>
            </a:r>
            <a:endParaRPr sz="1600" b="1">
              <a:solidFill>
                <a:srgbClr val="0E7490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748272" y="3794760"/>
            <a:ext cx="416052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1E293B"/>
                </a:solidFill>
                <a:latin typeface="微软雅黑" panose="020B0503020204020204" charset="-122"/>
              </a:rPr>
              <a:t>它更像一张“语音内容工作台”，不是录完就结束，而是让结果继续流进历史、热词、配置和导出体系里。</a:t>
            </a:r>
            <a:endParaRPr sz="19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微软雅黑" panose="020B0503020204020204" charset="-122"/>
              </a:rPr>
              <a:t>页面结构一眼看清</a:t>
            </a:r>
            <a:endParaRPr sz="28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微软雅黑" panose="020B0503020204020204" charset="-122"/>
              </a:rPr>
              <a:t>顶部导航把核心能力拆成五块，符合从“生产结果”到“管理结果”的使用顺序。</a:t>
            </a:r>
            <a:endParaRPr sz="11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0156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0392" y="1600200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07592" y="1563624"/>
            <a:ext cx="2596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83B5B"/>
                </a:solidFill>
                <a:latin typeface="微软雅黑" panose="020B0503020204020204" charset="-122"/>
              </a:rPr>
              <a:t>工作台</a:t>
            </a:r>
            <a:endParaRPr sz="17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86968" y="1984248"/>
            <a:ext cx="29992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B7A"/>
                </a:solidFill>
                <a:latin typeface="微软雅黑" panose="020B0503020204020204" charset="-122"/>
              </a:rPr>
              <a:t>选择场景、上传音频、开始处理、查看原文和优化文。</a:t>
            </a:r>
            <a:endParaRPr sz="120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40156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99432" y="1600200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6632" y="1563624"/>
            <a:ext cx="2596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83B5B"/>
                </a:solidFill>
                <a:latin typeface="微软雅黑" panose="020B0503020204020204" charset="-122"/>
              </a:rPr>
              <a:t>历史记录</a:t>
            </a:r>
            <a:endParaRPr sz="17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36008" y="1984248"/>
            <a:ext cx="29992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B7A"/>
                </a:solidFill>
                <a:latin typeface="微软雅黑" panose="020B0503020204020204" charset="-122"/>
              </a:rPr>
              <a:t>集中查看处理结果，支持筛选、详情、再次优化和删除。</a:t>
            </a:r>
            <a:endParaRPr sz="120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79" y="1417320"/>
            <a:ext cx="340156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48471" y="1600200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5671" y="1563624"/>
            <a:ext cx="25968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83B5B"/>
                </a:solidFill>
                <a:latin typeface="微软雅黑" panose="020B0503020204020204" charset="-122"/>
              </a:rPr>
              <a:t>导出中心</a:t>
            </a:r>
            <a:endParaRPr sz="17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85047" y="1984248"/>
            <a:ext cx="29992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B7A"/>
                </a:solidFill>
                <a:latin typeface="微软雅黑" panose="020B0503020204020204" charset="-122"/>
              </a:rPr>
              <a:t>统一管理 DOCX、Markdown、TXT、JSON 等导出文件。</a:t>
            </a:r>
            <a:endParaRPr sz="120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85800" y="3429000"/>
            <a:ext cx="5321808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0392" y="3611880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592" y="3575304"/>
            <a:ext cx="451713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83B5B"/>
                </a:solidFill>
                <a:latin typeface="微软雅黑" panose="020B0503020204020204" charset="-122"/>
              </a:rPr>
              <a:t>热词管理</a:t>
            </a:r>
            <a:endParaRPr sz="17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86968" y="3995928"/>
            <a:ext cx="491947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B7A"/>
                </a:solidFill>
                <a:latin typeface="微软雅黑" panose="020B0503020204020204" charset="-122"/>
              </a:rPr>
              <a:t>维护术语和误识别修正规则，让后续处理更贴近真实表达。</a:t>
            </a:r>
            <a:endParaRPr sz="120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099048" y="3429000"/>
            <a:ext cx="51663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63640" y="3611880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575304"/>
            <a:ext cx="43616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183B5B"/>
                </a:solidFill>
                <a:latin typeface="微软雅黑" panose="020B0503020204020204" charset="-122"/>
              </a:rPr>
              <a:t>模型配置</a:t>
            </a:r>
            <a:endParaRPr sz="17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00216" y="3995928"/>
            <a:ext cx="4764024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B7A"/>
                </a:solidFill>
                <a:latin typeface="微软雅黑" panose="020B0503020204020204" charset="-122"/>
              </a:rPr>
              <a:t>管理模板、模型路线、统计指标和默认处理策略。</a:t>
            </a:r>
            <a:endParaRPr sz="120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微软雅黑" panose="020B0503020204020204" charset="-122"/>
              </a:rPr>
              <a:t>工作台：从一段音频到一份可用文本</a:t>
            </a:r>
            <a:endParaRPr sz="28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微软雅黑" panose="020B0503020204020204" charset="-122"/>
              </a:rPr>
              <a:t>这是平台的主入口，用户会在这里完成上传、处理、查看结果和保存历史。</a:t>
            </a:r>
            <a:endParaRPr sz="11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25880"/>
            <a:ext cx="66294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5715000"/>
            <a:ext cx="637336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微软雅黑" panose="020B0503020204020204" charset="-122"/>
              </a:rPr>
              <a:t>工作台页面</a:t>
            </a:r>
            <a:endParaRPr sz="10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479792" y="1481328"/>
            <a:ext cx="41605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左侧先选场景，系统会根据场景改变输出方式，比如会议纪要更强调议题、结论和待办，代码注释则更看重术语保留。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中间完成音频上传后，就能走完整处理链路：识别、热词修正、文本优化，再把结果和统计信息写回。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结果区同时展示原始识别文本和优化后文本，方便对比，也方便后续人工校对。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同一页还能继续做“保存到历史”“再次处理”“人工校对”“生成导出”等动作，减少来回切换。</a:t>
            </a: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214880"/>
            <a:ext cx="5615305" cy="29222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微软雅黑" panose="020B0503020204020204" charset="-122"/>
              </a:rPr>
              <a:t>历史记录与导出中心</a:t>
            </a:r>
            <a:endParaRPr sz="28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微软雅黑" panose="020B0503020204020204" charset="-122"/>
              </a:rPr>
              <a:t>处理结果不会停留在当前会话里，平台把“查找”“复用”“交付”放到了同一套体系。</a:t>
            </a:r>
            <a:endParaRPr sz="11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>
            <p:custDataLst>
              <p:tags r:id="rId1"/>
            </p:custDataLst>
          </p:nvPr>
        </p:nvSpPr>
        <p:spPr>
          <a:xfrm>
            <a:off x="566928" y="1417320"/>
            <a:ext cx="56692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-history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998480" y="1490472"/>
            <a:ext cx="4806175" cy="3941064"/>
          </a:xfrm>
          <a:prstGeom prst="rect">
            <a:avLst/>
          </a:prstGeom>
        </p:spPr>
      </p:pic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694944" y="5486400"/>
            <a:ext cx="541324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微软雅黑" panose="020B0503020204020204" charset="-122"/>
              </a:rPr>
              <a:t>历史记录页面</a:t>
            </a:r>
            <a:endParaRPr sz="10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6382512" y="1417320"/>
            <a:ext cx="5230368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6"/>
            </p:custDataLst>
          </p:nvPr>
        </p:nvSpPr>
        <p:spPr>
          <a:xfrm>
            <a:off x="6510528" y="5486400"/>
            <a:ext cx="497433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微软雅黑" panose="020B0503020204020204" charset="-122"/>
              </a:rPr>
              <a:t>导出中心页面</a:t>
            </a:r>
            <a:endParaRPr sz="10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6053328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35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历史页支持关键词搜索、场景筛选、详情查看、人工校对、再次优化和导出；导出中心则把文件生成记录统一沉淀下来，方便交付与追溯。</a:t>
            </a: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0670" y="2477135"/>
            <a:ext cx="4749165" cy="21748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微软雅黑" panose="020B0503020204020204" charset="-122"/>
              </a:rPr>
              <a:t>热词管理：把专业表达纠正到位</a:t>
            </a:r>
            <a:endParaRPr sz="28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微软雅黑" panose="020B0503020204020204" charset="-122"/>
              </a:rPr>
              <a:t>热词模块不是摆设，它直接影响后续处理结果，尤其适合技术词、缩写词和常见误识别场景。</a:t>
            </a:r>
            <a:endParaRPr sz="11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53312"/>
            <a:ext cx="6473952" cy="4828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5724144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微软雅黑" panose="020B0503020204020204" charset="-122"/>
              </a:rPr>
              <a:t>热词管理页面</a:t>
            </a:r>
            <a:endParaRPr sz="10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15200" y="1481328"/>
            <a:ext cx="41148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16368" y="1719072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0E7490"/>
                </a:solidFill>
                <a:latin typeface="微软雅黑" panose="020B0503020204020204" charset="-122"/>
              </a:rPr>
              <a:t>这个模块的价值</a:t>
            </a:r>
            <a:endParaRPr sz="1600" b="1">
              <a:solidFill>
                <a:srgbClr val="0E7490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16368" y="2121408"/>
            <a:ext cx="356616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支持分类维护，页面里能看到技术术语、产品名称、英文缩写、自定义词库等类别。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支持新增、编辑、删除、导入和导出，适合快速沉淀一套自己的行业词表。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热词启用后会直接参与文本修正，不是只存着看，后面的统计里也能看到热词命中情况。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对答辩或验收来说，这一页很容易体现项目差异化，因为它说明平台不是“通用转写完事”，而是能针对场景做修正。</a:t>
            </a: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330" y="2286000"/>
            <a:ext cx="5882005" cy="30359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微软雅黑" panose="020B0503020204020204" charset="-122"/>
              </a:rPr>
              <a:t>模型配置与使用统计</a:t>
            </a:r>
            <a:endParaRPr sz="28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微软雅黑" panose="020B0503020204020204" charset="-122"/>
              </a:rPr>
              <a:t>平台不仅能跑，还允许调策略、存模板、看统计，这让它更像一套可运维的产品。</a:t>
            </a:r>
            <a:endParaRPr sz="11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53312"/>
            <a:ext cx="6473952" cy="4828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-confi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47118"/>
            <a:ext cx="6327648" cy="36015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5724144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微软雅黑" panose="020B0503020204020204" charset="-122"/>
              </a:rPr>
              <a:t>模型配置页面</a:t>
            </a:r>
            <a:endParaRPr sz="10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0" y="1572768"/>
            <a:ext cx="4160520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配置页可以设置识别模型、优化模型、语言、领域、输出格式、热词开关和成本/质量取向。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模板能力让常用策略能被保存下来，工作台在创建任务时直接复用，减少重复设置。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统计部分会回看任务耗时、平均字数、热词命中率、近 7 天趋势和场景分布，适合拿来说明平台真实使用情况。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45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如果从产品完整度看，这一块很关键，因为它把“用起来”延伸到了“长期维护和复盘”。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微软雅黑" panose="020B0503020204020204" charset="-122"/>
              </a:rPr>
              <a:t>核心处理链路</a:t>
            </a:r>
            <a:endParaRPr sz="28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微软雅黑" panose="020B0503020204020204" charset="-122"/>
              </a:rPr>
              <a:t>从后端实现看，这套平台并不是前端本地拼结果，而是真正经过存储、识别、优化和落库。</a:t>
            </a:r>
            <a:endParaRPr sz="11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132588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09928"/>
            <a:ext cx="11430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E293B"/>
                </a:solidFill>
                <a:latin typeface="微软雅黑" panose="020B0503020204020204" charset="-122"/>
              </a:rPr>
              <a:t>上传音频</a:t>
            </a:r>
            <a:endParaRPr sz="125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1828800" y="2002536"/>
            <a:ext cx="164592" cy="0"/>
          </a:xfrm>
          <a:prstGeom prst="line">
            <a:avLst/>
          </a:prstGeom>
          <a:ln w="25400">
            <a:solidFill>
              <a:srgbClr val="0E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993391" y="1600200"/>
            <a:ext cx="1325880" cy="804672"/>
          </a:xfrm>
          <a:prstGeom prst="roundRect">
            <a:avLst/>
          </a:prstGeom>
          <a:solidFill>
            <a:srgbClr val="E0F2F7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1" y="1709928"/>
            <a:ext cx="11430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E293B"/>
                </a:solidFill>
                <a:latin typeface="微软雅黑" panose="020B0503020204020204" charset="-122"/>
              </a:rPr>
              <a:t>对象存储</a:t>
            </a:r>
            <a:endParaRPr sz="125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319271" y="2002536"/>
            <a:ext cx="164592" cy="0"/>
          </a:xfrm>
          <a:prstGeom prst="line">
            <a:avLst/>
          </a:prstGeom>
          <a:ln w="25400">
            <a:solidFill>
              <a:srgbClr val="0E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83863" y="1600200"/>
            <a:ext cx="132588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3" y="1709928"/>
            <a:ext cx="11430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E293B"/>
                </a:solidFill>
                <a:latin typeface="微软雅黑" panose="020B0503020204020204" charset="-122"/>
              </a:rPr>
              <a:t>语音识别</a:t>
            </a:r>
            <a:endParaRPr sz="125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4809743" y="2002536"/>
            <a:ext cx="164592" cy="0"/>
          </a:xfrm>
          <a:prstGeom prst="line">
            <a:avLst/>
          </a:prstGeom>
          <a:ln w="25400">
            <a:solidFill>
              <a:srgbClr val="0E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974336" y="1600200"/>
            <a:ext cx="1325880" cy="804672"/>
          </a:xfrm>
          <a:prstGeom prst="roundRect">
            <a:avLst/>
          </a:prstGeom>
          <a:solidFill>
            <a:srgbClr val="E0F2F7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1709928"/>
            <a:ext cx="11430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E293B"/>
                </a:solidFill>
                <a:latin typeface="微软雅黑" panose="020B0503020204020204" charset="-122"/>
              </a:rPr>
              <a:t>热词修正</a:t>
            </a:r>
            <a:endParaRPr sz="125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2002536"/>
            <a:ext cx="164592" cy="0"/>
          </a:xfrm>
          <a:prstGeom prst="line">
            <a:avLst/>
          </a:prstGeom>
          <a:ln w="25400">
            <a:solidFill>
              <a:srgbClr val="0E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64807" y="1600200"/>
            <a:ext cx="132588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7" y="1709928"/>
            <a:ext cx="11430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E293B"/>
                </a:solidFill>
                <a:latin typeface="微软雅黑" panose="020B0503020204020204" charset="-122"/>
              </a:rPr>
              <a:t>文本优化</a:t>
            </a:r>
            <a:endParaRPr sz="125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7790687" y="2002536"/>
            <a:ext cx="164592" cy="0"/>
          </a:xfrm>
          <a:prstGeom prst="line">
            <a:avLst/>
          </a:prstGeom>
          <a:ln w="25400">
            <a:solidFill>
              <a:srgbClr val="0E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955279" y="1600200"/>
            <a:ext cx="1325880" cy="804672"/>
          </a:xfrm>
          <a:prstGeom prst="roundRect">
            <a:avLst/>
          </a:prstGeom>
          <a:solidFill>
            <a:srgbClr val="E0F2F7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9" y="1709928"/>
            <a:ext cx="11430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E293B"/>
                </a:solidFill>
                <a:latin typeface="微软雅黑" panose="020B0503020204020204" charset="-122"/>
              </a:rPr>
              <a:t>结果回写</a:t>
            </a:r>
            <a:endParaRPr sz="125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9281159" y="2002536"/>
            <a:ext cx="164592" cy="0"/>
          </a:xfrm>
          <a:prstGeom prst="line">
            <a:avLst/>
          </a:prstGeom>
          <a:ln w="25400">
            <a:solidFill>
              <a:srgbClr val="0E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445752" y="1600200"/>
            <a:ext cx="1325880" cy="8046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37192" y="1709928"/>
            <a:ext cx="11430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E293B"/>
                </a:solidFill>
                <a:latin typeface="微软雅黑" panose="020B0503020204020204" charset="-122"/>
              </a:rPr>
              <a:t>历史/导出</a:t>
            </a:r>
            <a:endParaRPr sz="125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31520" y="2880360"/>
            <a:ext cx="10972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音频先进入存储层，再由后端任务服务读取，避免文件只停留在浏览器内存里。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识别阶段拿到原始文本后，会按当前场景和热词规则继续修正，再把文本交给优化模型做结构化整理。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任务完成后，会把标题、摘要、原文、优化文、Markdown、耗时、热词命中和成本估算一起写回数据库。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5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这样一来，工作台、历史记录、导出中心、统计页看到的是同一份结果，不会出现各页数据断层。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微软雅黑" panose="020B0503020204020204" charset="-122"/>
              </a:rPr>
              <a:t>技术架构与部署方式</a:t>
            </a:r>
            <a:endParaRPr sz="28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微软雅黑" panose="020B0503020204020204" charset="-122"/>
              </a:rPr>
              <a:t>这套平台采用前后端分离设计，适合本地演示，也保留了后续扩展空间。</a:t>
            </a:r>
            <a:endParaRPr sz="11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9808" y="1737360"/>
            <a:ext cx="2514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8" y="1737360"/>
            <a:ext cx="2514600" cy="219456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84831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E293B"/>
                </a:solidFill>
                <a:latin typeface="微软雅黑" panose="020B0503020204020204" charset="-122"/>
              </a:rPr>
              <a:t>前端层</a:t>
            </a:r>
            <a:endParaRPr sz="1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148840" cy="2121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5B6B7A"/>
                </a:solidFill>
                <a:latin typeface="微软雅黑" panose="020B0503020204020204" charset="-122"/>
              </a:rPr>
              <a:t>React + Vite + TypeScript
负责工作台、历史、热词、导出和配置等页面。</a:t>
            </a:r>
            <a:endParaRPr sz="130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630168" y="1737360"/>
            <a:ext cx="2514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30168" y="1737360"/>
            <a:ext cx="2514600" cy="219456"/>
          </a:xfrm>
          <a:prstGeom prst="rect">
            <a:avLst/>
          </a:prstGeom>
          <a:solidFill>
            <a:srgbClr val="18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2084831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E293B"/>
                </a:solidFill>
                <a:latin typeface="微软雅黑" panose="020B0503020204020204" charset="-122"/>
              </a:rPr>
              <a:t>后端层</a:t>
            </a:r>
            <a:endParaRPr sz="1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794760" y="2468880"/>
            <a:ext cx="2148840" cy="2121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5B6B7A"/>
                </a:solidFill>
                <a:latin typeface="微软雅黑" panose="020B0503020204020204" charset="-122"/>
              </a:rPr>
              <a:t>Spring Boot 3 + JPA + Flyway
负责任务处理、接口编排、导出生成和统计聚合。</a:t>
            </a:r>
            <a:endParaRPr sz="130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510528" y="1737360"/>
            <a:ext cx="2514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10528" y="1737360"/>
            <a:ext cx="2514600" cy="219456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084831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E293B"/>
                </a:solidFill>
                <a:latin typeface="微软雅黑" panose="020B0503020204020204" charset="-122"/>
              </a:rPr>
              <a:t>数据与中间件</a:t>
            </a:r>
            <a:endParaRPr sz="1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675120" y="2468880"/>
            <a:ext cx="2148840" cy="2121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5B6B7A"/>
                </a:solidFill>
                <a:latin typeface="微软雅黑" panose="020B0503020204020204" charset="-122"/>
              </a:rPr>
              <a:t>PostgreSQL + Redis + MinIO
分别承担持久化、状态/缓存与文件对象存储。</a:t>
            </a:r>
            <a:endParaRPr sz="130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390888" y="1737360"/>
            <a:ext cx="2514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90888" y="1737360"/>
            <a:ext cx="2514600" cy="219456"/>
          </a:xfrm>
          <a:prstGeom prst="rect">
            <a:avLst/>
          </a:prstGeom>
          <a:solidFill>
            <a:srgbClr val="18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5480" y="2084831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E293B"/>
                </a:solidFill>
                <a:latin typeface="微软雅黑" panose="020B0503020204020204" charset="-122"/>
              </a:rPr>
              <a:t>部署方式</a:t>
            </a:r>
            <a:endParaRPr sz="1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555480" y="2468880"/>
            <a:ext cx="2148840" cy="2121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5B6B7A"/>
                </a:solidFill>
                <a:latin typeface="微软雅黑" panose="020B0503020204020204" charset="-122"/>
              </a:rPr>
              <a:t>Docker Compose 一键拉起
适合课堂环境和演示机器快速复现。</a:t>
            </a:r>
            <a:endParaRPr sz="130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86384" y="553212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5B6B7A"/>
                </a:solidFill>
                <a:latin typeface="微软雅黑" panose="020B0503020204020204" charset="-122"/>
              </a:rPr>
              <a:t>项目当前支持本地通过 Docker 启动核心服务，适合在验收现场直接演示页面、接口和导出效果。</a:t>
            </a:r>
            <a:endParaRPr sz="13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微软雅黑" panose="020B0503020204020204" charset="-122"/>
              </a:rPr>
              <a:t>为什么这套平台适合拿来验收</a:t>
            </a:r>
            <a:endParaRPr sz="28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微软雅黑" panose="020B0503020204020204" charset="-122"/>
              </a:rPr>
              <a:t>评审最关心的通常不是“页面多不多”，而是“功能是不是真的跑得通”。</a:t>
            </a:r>
            <a:endParaRPr sz="11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9808" y="1463040"/>
            <a:ext cx="5138928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664208"/>
            <a:ext cx="384048" cy="384048"/>
          </a:xfrm>
          <a:prstGeom prst="ellipse">
            <a:avLst/>
          </a:prstGeom>
          <a:solidFill>
            <a:srgbClr val="F4B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35608" y="161848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83B5B"/>
                </a:solidFill>
                <a:latin typeface="微软雅黑" panose="020B0503020204020204" charset="-122"/>
              </a:rPr>
              <a:t>入口真实可用</a:t>
            </a:r>
            <a:endParaRPr sz="155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50976" y="2039112"/>
            <a:ext cx="4617720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5B6B7A"/>
                </a:solidFill>
                <a:latin typeface="微软雅黑" panose="020B0503020204020204" charset="-122"/>
              </a:rPr>
              <a:t>上传、处理、保存历史、导出、热词维护、配置保存和统计查看，都对应实际行为。</a:t>
            </a:r>
            <a:endParaRPr sz="12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81928" y="1463040"/>
            <a:ext cx="5138928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1664208"/>
            <a:ext cx="384048" cy="384048"/>
          </a:xfrm>
          <a:prstGeom prst="ellipse">
            <a:avLst/>
          </a:prstGeom>
          <a:solidFill>
            <a:srgbClr val="F4B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61848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83B5B"/>
                </a:solidFill>
                <a:latin typeface="微软雅黑" panose="020B0503020204020204" charset="-122"/>
              </a:rPr>
              <a:t>数据链路完整</a:t>
            </a:r>
            <a:endParaRPr sz="155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83096" y="2039112"/>
            <a:ext cx="4617720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5B6B7A"/>
                </a:solidFill>
                <a:latin typeface="微软雅黑" panose="020B0503020204020204" charset="-122"/>
              </a:rPr>
              <a:t>任务结果不是页面假数据，而是能够回到历史、导出中心和统计页继续使用。</a:t>
            </a:r>
            <a:endParaRPr sz="12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49808" y="3291840"/>
            <a:ext cx="5138928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" y="3493008"/>
            <a:ext cx="384048" cy="384048"/>
          </a:xfrm>
          <a:prstGeom prst="ellipse">
            <a:avLst/>
          </a:prstGeom>
          <a:solidFill>
            <a:srgbClr val="F4B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5608" y="344728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83B5B"/>
                </a:solidFill>
                <a:latin typeface="微软雅黑" panose="020B0503020204020204" charset="-122"/>
              </a:rPr>
              <a:t>场景化差异明确</a:t>
            </a:r>
            <a:endParaRPr sz="155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50976" y="3867912"/>
            <a:ext cx="4617720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5B6B7A"/>
                </a:solidFill>
                <a:latin typeface="微软雅黑" panose="020B0503020204020204" charset="-122"/>
              </a:rPr>
              <a:t>六类输入场景让结果不是一刀切输出，更容易展示产品设计思路。</a:t>
            </a:r>
            <a:endParaRPr sz="12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281928" y="3291840"/>
            <a:ext cx="5138928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6520" y="3493008"/>
            <a:ext cx="384048" cy="384048"/>
          </a:xfrm>
          <a:prstGeom prst="ellipse">
            <a:avLst/>
          </a:prstGeom>
          <a:solidFill>
            <a:srgbClr val="F4B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4728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183B5B"/>
                </a:solidFill>
                <a:latin typeface="微软雅黑" panose="020B0503020204020204" charset="-122"/>
              </a:rPr>
              <a:t>便于现场演示</a:t>
            </a:r>
            <a:endParaRPr sz="155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83096" y="3867912"/>
            <a:ext cx="4617720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5B6B7A"/>
                </a:solidFill>
                <a:latin typeface="微软雅黑" panose="020B0503020204020204" charset="-122"/>
              </a:rPr>
              <a:t>从工作台开始，一步步能走到历史、热词、配置和导出，流程清晰，讲起来也顺。</a:t>
            </a:r>
            <a:endParaRPr sz="12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183B5B"/>
                </a:solidFill>
                <a:latin typeface="微软雅黑" panose="020B0503020204020204" charset="-122"/>
              </a:rPr>
              <a:t>建议的现场演示路径</a:t>
            </a:r>
            <a:endParaRPr sz="2800" b="1">
              <a:solidFill>
                <a:srgbClr val="183B5B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9552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B6B7A"/>
                </a:solidFill>
                <a:latin typeface="微软雅黑" panose="020B0503020204020204" charset="-122"/>
              </a:rPr>
              <a:t>如果是答辩或平台验收，按这条线讲，节奏最顺，也最容易把亮点讲明白。</a:t>
            </a:r>
            <a:endParaRPr sz="11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47472" y="329184"/>
            <a:ext cx="73152" cy="65836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65836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1. 在工作台选择一个输入场景，上传音频，展示原文和优化文的对比。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2. 把结果保存到历史记录，再进入历史页说明结果如何被沉淀下来。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3. 打开热词管理，补一条术语修正规则，说明平台为什么适合技术和专业场景。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4. 回到工作台或历史详情，再次处理一次内容，对比修正前后的变化。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5. 最后进入导出中心和模型配置页，展示这套平台不仅能产出结果，还能形成交付文件和统计结果。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600200"/>
            <a:ext cx="36576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45552" y="18288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0E7490"/>
                </a:solidFill>
                <a:latin typeface="微软雅黑" panose="020B0503020204020204" charset="-122"/>
              </a:rPr>
              <a:t>讲解时建议强调</a:t>
            </a:r>
            <a:endParaRPr sz="1600" b="1">
              <a:solidFill>
                <a:srgbClr val="0E7490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845552" y="2212848"/>
            <a:ext cx="28346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35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页面不是静态稿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35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结果能回流到后续模块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35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热词和配置会影响下一次处理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35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导出文件可以直接交付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2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05840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F4B740"/>
                </a:solidFill>
                <a:latin typeface="微软雅黑" panose="020B0503020204020204" charset="-122"/>
              </a:rPr>
              <a:t>总结</a:t>
            </a:r>
            <a:endParaRPr sz="1800" b="1">
              <a:solidFill>
                <a:srgbClr val="F4B740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67665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VoiceInput Pro 已经具备一套完整的产品骨架：
能处理、能复核、能沉淀、能导出，也能解释这套结果是怎么来的。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13232" y="3310128"/>
            <a:ext cx="6217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50" b="0">
                <a:solidFill>
                  <a:srgbClr val="DBE5EC"/>
                </a:solidFill>
                <a:latin typeface="微软雅黑" panose="020B0503020204020204" charset="-122"/>
              </a:rPr>
              <a:t>从项目展示角度看，它的优势不只是页面整齐，而是流程完整、数据成链、讲解有抓手。
如果后续继续扩展，这套平台也有空间往实时录音、团队协作和更多模型策略上走。</a:t>
            </a:r>
            <a:endParaRPr sz="1650" b="0">
              <a:solidFill>
                <a:srgbClr val="DBE5EC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424927" y="1024128"/>
            <a:ext cx="4005072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workbench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2011" y="1097280"/>
            <a:ext cx="3210903" cy="4425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52943" y="5577840"/>
            <a:ext cx="37490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B6B7A"/>
                </a:solidFill>
                <a:latin typeface="微软雅黑" panose="020B0503020204020204" charset="-122"/>
              </a:rPr>
              <a:t>平台首页</a:t>
            </a:r>
            <a:endParaRPr sz="1050" b="0">
              <a:solidFill>
                <a:srgbClr val="5B6B7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56.4,&quot;left&quot;:44.64,&quot;top&quot;:111.6,&quot;width&quot;:869.76}"/>
</p:tagLst>
</file>

<file path=ppt/tags/tag2.xml><?xml version="1.0" encoding="utf-8"?>
<p:tagLst xmlns:p="http://schemas.openxmlformats.org/presentationml/2006/main">
  <p:tag name="KSO_WM_DIAGRAM_VIRTUALLY_FRAME" val="{&quot;height&quot;:356.4,&quot;left&quot;:44.64,&quot;top&quot;:111.6,&quot;width&quot;:869.76}"/>
</p:tagLst>
</file>

<file path=ppt/tags/tag3.xml><?xml version="1.0" encoding="utf-8"?>
<p:tagLst xmlns:p="http://schemas.openxmlformats.org/presentationml/2006/main">
  <p:tag name="KSO_WM_DIAGRAM_VIRTUALLY_FRAME" val="{&quot;height&quot;:356.4,&quot;left&quot;:44.64,&quot;top&quot;:111.6,&quot;width&quot;:869.76}"/>
</p:tagLst>
</file>

<file path=ppt/tags/tag4.xml><?xml version="1.0" encoding="utf-8"?>
<p:tagLst xmlns:p="http://schemas.openxmlformats.org/presentationml/2006/main">
  <p:tag name="KSO_WM_DIAGRAM_VIRTUALLY_FRAME" val="{&quot;height&quot;:356.4,&quot;left&quot;:44.64,&quot;top&quot;:111.6,&quot;width&quot;:869.76}"/>
</p:tagLst>
</file>

<file path=ppt/tags/tag5.xml><?xml version="1.0" encoding="utf-8"?>
<p:tagLst xmlns:p="http://schemas.openxmlformats.org/presentationml/2006/main">
  <p:tag name="KSO_WM_DIAGRAM_VIRTUALLY_FRAME" val="{&quot;height&quot;:356.4,&quot;left&quot;:44.64,&quot;top&quot;:111.6,&quot;width&quot;:869.7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2673</Words>
  <Application>WPS 演示</Application>
  <PresentationFormat>On-screen Show (4:3)</PresentationFormat>
  <Paragraphs>205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VoiceInput Pro 平台介绍与验收演示稿</dc:title>
  <dc:creator>OpenAI Codex</dc:creator>
  <dc:description>基于当前本地站点页面与功能整理</dc:description>
  <dc:subject>VoiceInput Pro 产品演示</dc:subject>
  <cp:lastModifiedBy>桀骜</cp:lastModifiedBy>
  <cp:revision>3</cp:revision>
  <dcterms:created xsi:type="dcterms:W3CDTF">2013-01-27T09:14:00Z</dcterms:created>
  <dcterms:modified xsi:type="dcterms:W3CDTF">2026-05-25T14:55:53Z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0CC53AE063024AB0905181CD40787C63_12</vt:lpwstr>
  </property>
  <property fmtid="{D5CDD505-2E9C-101B-9397-08002B2CF9AE}" pid="3" name="KSOProductBuildVer">
    <vt:lpwstr>2052-12.1.0.23542</vt:lpwstr>
  </property>
</Properties>
</file>