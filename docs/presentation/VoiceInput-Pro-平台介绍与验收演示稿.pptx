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86384"/>
            <a:ext cx="1078992" cy="310896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F2233"/>
                </a:solidFill>
                <a:latin typeface="Microsoft YaHei"/>
              </a:rPr>
              <a:t>平台演示稿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6126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VoiceInput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29968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一套面向办公与技术场景的智能语音输入工作台
从音频上传、识别优化，到历史沉淀、导出交付，页面与数据链路完整打通。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92531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CED8E2"/>
                </a:solidFill>
                <a:latin typeface="Microsoft YaHei"/>
              </a:rPr>
              <a:t>适合课堂答辩、项目验收、功能演示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932688"/>
            <a:ext cx="4224528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451" y="1005840"/>
            <a:ext cx="3390024" cy="467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43216" y="5733288"/>
            <a:ext cx="3968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工作台首页实拍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这套平台解决什么问题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它不是简单的“语音转文字”，而是把转写、整理、复核和交付串成一条完整工作流。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651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90472"/>
            <a:ext cx="2322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83B5B"/>
                </a:solidFill>
                <a:latin typeface="Microsoft YaHei"/>
              </a:rPr>
              <a:t>6 类场景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29384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E7490"/>
                </a:solidFill>
                <a:latin typeface="Microsoft YaHei"/>
              </a:rPr>
              <a:t>按场景组织输出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40280"/>
            <a:ext cx="2322576" cy="46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支持会议纪要、工作汇报、正式表达、Markdown 笔记、代码注释、聊天回复。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325880"/>
            <a:ext cx="2651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90472"/>
            <a:ext cx="2322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83B5B"/>
                </a:solidFill>
                <a:latin typeface="Microsoft YaHei"/>
              </a:rPr>
              <a:t>双文本输出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29384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E7490"/>
                </a:solidFill>
                <a:latin typeface="Microsoft YaHei"/>
              </a:rPr>
              <a:t>原文 + 优化文并行展示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40280"/>
            <a:ext cx="2322576" cy="46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用户能直接比较识别结果和整理结果，知道系统改了什么。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325880"/>
            <a:ext cx="2651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490472"/>
            <a:ext cx="23225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83B5B"/>
                </a:solidFill>
                <a:latin typeface="Microsoft YaHei"/>
              </a:rPr>
              <a:t>闭环管理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929384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E7490"/>
                </a:solidFill>
                <a:latin typeface="Microsoft YaHei"/>
              </a:rPr>
              <a:t>处理后还能继续用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240280"/>
            <a:ext cx="2322576" cy="46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结果可以进入历史、参与人工校对、导出成文档，也能进入统计分析。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1325880"/>
            <a:ext cx="25786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490472"/>
            <a:ext cx="22494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>
                <a:solidFill>
                  <a:srgbClr val="183B5B"/>
                </a:solidFill>
                <a:latin typeface="Microsoft YaHei"/>
              </a:rPr>
              <a:t>面向演示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929384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E7490"/>
                </a:solidFill>
                <a:latin typeface="Microsoft YaHei"/>
              </a:rPr>
              <a:t>每个入口都有实际动作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240280"/>
            <a:ext cx="2249424" cy="46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页面保留的按钮、筛选、导出、统计，都对应后端能力，而不是静态摆设。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4612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对普通转写工具来说，输出往往停留在“一段文字”；对这套平台来说，重点是把文字整理成可直接使用的结果。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平台适合老师、评审或团队现场查看，因为能清楚看到每一步是怎么走的，数据落到了哪里，后续还能怎么复用。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如果把它放到日常办公场景里，最容易落地的用法就是会议纪要、口头汇报整理和技术内容录入。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127248"/>
            <a:ext cx="47548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3346704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0E7490"/>
                </a:solidFill>
                <a:latin typeface="Microsoft YaHei"/>
              </a:rPr>
              <a:t>一句话理解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794760"/>
            <a:ext cx="41605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E293B"/>
                </a:solidFill>
                <a:latin typeface="Microsoft YaHei"/>
              </a:rPr>
              <a:t>它更像一张“语音内容工作台”，不是录完就结束，而是让结果继续流进历史、热词、配置和导出体系里。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页面结构一眼看清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顶部导航把核心能力拆成五块，符合从“生产结果”到“管理结果”的使用顺序。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1600200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563624"/>
            <a:ext cx="2596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83B5B"/>
                </a:solidFill>
                <a:latin typeface="Microsoft YaHei"/>
              </a:rPr>
              <a:t>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9992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选择场景、上传音频、开始处理、查看原文和优化文。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9432" y="1600200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2" y="1563624"/>
            <a:ext cx="2596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83B5B"/>
                </a:solidFill>
                <a:latin typeface="Microsoft YaHei"/>
              </a:rPr>
              <a:t>历史记录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984248"/>
            <a:ext cx="29992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集中查看处理结果，支持筛选、详情、再次优化和删除。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4015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48471" y="1600200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1" y="1563624"/>
            <a:ext cx="2596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83B5B"/>
                </a:solidFill>
                <a:latin typeface="Microsoft YaHei"/>
              </a:rPr>
              <a:t>导出中心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7" y="1984248"/>
            <a:ext cx="29992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统一管理 DOCX、Markdown、TXT、JSON 等导出文件。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53218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" y="3611880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3575304"/>
            <a:ext cx="4517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83B5B"/>
                </a:solidFill>
                <a:latin typeface="Microsoft YaHei"/>
              </a:rPr>
              <a:t>热词管理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995928"/>
            <a:ext cx="49194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维护术语和误识别修正规则，让后续处理更贴近真实表达。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8" y="3429000"/>
            <a:ext cx="5166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640" y="3611880"/>
            <a:ext cx="347472" cy="34747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575304"/>
            <a:ext cx="4361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83B5B"/>
                </a:solidFill>
                <a:latin typeface="Microsoft YaHei"/>
              </a:rPr>
              <a:t>模型配置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3995928"/>
            <a:ext cx="4764024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管理模板、模型路线、统计指标和默认处理策略。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工作台：从一段音频到一份可用文本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这是平台的主入口，用户会在这里完成上传、处理、查看结果和保存历史。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6629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882" y="1399032"/>
            <a:ext cx="3091490" cy="4261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" y="5715000"/>
            <a:ext cx="63733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工作台页面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481328"/>
            <a:ext cx="4160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左侧先选场景，系统会根据场景改变输出方式，比如会议纪要更强调议题、结论和待办，代码注释则更看重术语保留。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中间完成音频上传后，就能走完整处理链路：识别、热词修正、文本优化，再把结果和统计信息写回。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结果区同时展示原始识别文本和优化后文本，方便对比，也方便后续人工校对。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同一页还能继续做“保存到历史”“再次处理”“人工校对”“生成导出”等动作，减少来回切换。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历史记录与导出中心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处理结果不会停留在当前会话里，平台把“查找”“复用”“交付”放到了同一套体系。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5669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80" y="1490472"/>
            <a:ext cx="4806175" cy="3941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" y="5486400"/>
            <a:ext cx="54132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历史记录页面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417320"/>
            <a:ext cx="523036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ex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516349"/>
            <a:ext cx="5084064" cy="38893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0528" y="5486400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导出中心页面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533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350">
                <a:solidFill>
                  <a:srgbClr val="1E293B"/>
                </a:solidFill>
                <a:latin typeface="Microsoft YaHei"/>
              </a:defRPr>
            </a:pPr>
            <a:r>
              <a:t>历史页支持关键词搜索、场景筛选、详情查看、人工校对、再次优化和导出；导出中心则把文件生成记录统一沉淀下来，方便交付与追溯。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热词管理：把专业表达纠正到位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热词模块不是摆设，它直接影响后续处理结果，尤其适合技术词、缩写词和常见误识别场景。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53312"/>
            <a:ext cx="647395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hot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12" y="1426464"/>
            <a:ext cx="4607582" cy="4242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" y="5724144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热词管理页面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81328"/>
            <a:ext cx="4114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71907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0E7490"/>
                </a:solidFill>
                <a:latin typeface="Microsoft YaHei"/>
              </a:rPr>
              <a:t>这个模块的价值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2121408"/>
            <a:ext cx="3566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50">
                <a:solidFill>
                  <a:srgbClr val="1E293B"/>
                </a:solidFill>
                <a:latin typeface="Microsoft YaHei"/>
              </a:defRPr>
            </a:pPr>
            <a:r>
              <a:t>支持分类维护，页面里能看到技术术语、产品名称、英文缩写、自定义词库等类别。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solidFill>
                  <a:srgbClr val="1E293B"/>
                </a:solidFill>
                <a:latin typeface="Microsoft YaHei"/>
              </a:defRPr>
            </a:pPr>
            <a:r>
              <a:t>支持新增、编辑、删除、导入和导出，适合快速沉淀一套自己的行业词表。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solidFill>
                  <a:srgbClr val="1E293B"/>
                </a:solidFill>
                <a:latin typeface="Microsoft YaHei"/>
              </a:defRPr>
            </a:pPr>
            <a:r>
              <a:t>热词启用后会直接参与文本修正，不是只存着看，后面的统计里也能看到热词命中情况。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solidFill>
                  <a:srgbClr val="1E293B"/>
                </a:solidFill>
                <a:latin typeface="Microsoft YaHei"/>
              </a:defRPr>
            </a:pPr>
            <a:r>
              <a:t>对答辩或验收来说，这一页很容易体现项目差异化，因为它说明平台不是“通用转写完事”，而是能针对场景做修正。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模型配置与使用统计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平台不仅能跑，还允许调策略、存模板、看统计，这让它更像一套可运维的产品。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53312"/>
            <a:ext cx="6473952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21" y="1426464"/>
            <a:ext cx="5546164" cy="4242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" y="5724144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模型配置页面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72768"/>
            <a:ext cx="416052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50">
                <a:solidFill>
                  <a:srgbClr val="1E293B"/>
                </a:solidFill>
                <a:latin typeface="Microsoft YaHei"/>
              </a:defRPr>
            </a:pPr>
            <a:r>
              <a:t>配置页可以设置识别模型、优化模型、语言、领域、输出格式、热词开关和成本/质量取向。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solidFill>
                  <a:srgbClr val="1E293B"/>
                </a:solidFill>
                <a:latin typeface="Microsoft YaHei"/>
              </a:defRPr>
            </a:pPr>
            <a:r>
              <a:t>模板能力让常用策略能被保存下来，工作台在创建任务时直接复用，减少重复设置。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solidFill>
                  <a:srgbClr val="1E293B"/>
                </a:solidFill>
                <a:latin typeface="Microsoft YaHei"/>
              </a:defRPr>
            </a:pPr>
            <a:r>
              <a:t>统计部分会回看任务耗时、平均字数、热词命中率、近 7 天趋势和场景分布，适合拿来说明平台真实使用情况。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50">
                <a:solidFill>
                  <a:srgbClr val="1E293B"/>
                </a:solidFill>
                <a:latin typeface="Microsoft YaHei"/>
              </a:defRPr>
            </a:pPr>
            <a:r>
              <a:t>如果从产品完整度看，这一块很关键，因为它把“用起来”延伸到了“长期维护和复盘”。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核心处理链路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从后端实现看，这套平台并不是前端本地拼结果，而是真正经过存储、识别、优化和落库。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3258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09928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93B"/>
                </a:solidFill>
                <a:latin typeface="Microsoft YaHei"/>
              </a:rPr>
              <a:t>上传音频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002536"/>
            <a:ext cx="164592" cy="0"/>
          </a:xfrm>
          <a:prstGeom prst="line">
            <a:avLst/>
          </a:prstGeom>
          <a:ln w="2540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93391" y="1600200"/>
            <a:ext cx="1325880" cy="804672"/>
          </a:xfrm>
          <a:prstGeom prst="roundRect">
            <a:avLst/>
          </a:prstGeom>
          <a:solidFill>
            <a:srgbClr val="E0F2F7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1" y="1709928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93B"/>
                </a:solidFill>
                <a:latin typeface="Microsoft YaHei"/>
              </a:rPr>
              <a:t>对象存储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19271" y="2002536"/>
            <a:ext cx="164592" cy="0"/>
          </a:xfrm>
          <a:prstGeom prst="line">
            <a:avLst/>
          </a:prstGeom>
          <a:ln w="2540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83863" y="1600200"/>
            <a:ext cx="13258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3" y="1709928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93B"/>
                </a:solidFill>
                <a:latin typeface="Microsoft YaHei"/>
              </a:rPr>
              <a:t>语音识别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9743" y="2002536"/>
            <a:ext cx="164592" cy="0"/>
          </a:xfrm>
          <a:prstGeom prst="line">
            <a:avLst/>
          </a:prstGeom>
          <a:ln w="2540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74336" y="1600200"/>
            <a:ext cx="1325880" cy="804672"/>
          </a:xfrm>
          <a:prstGeom prst="roundRect">
            <a:avLst/>
          </a:prstGeom>
          <a:solidFill>
            <a:srgbClr val="E0F2F7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6" y="1709928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93B"/>
                </a:solidFill>
                <a:latin typeface="Microsoft YaHei"/>
              </a:rPr>
              <a:t>热词修正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0216" y="2002536"/>
            <a:ext cx="164592" cy="0"/>
          </a:xfrm>
          <a:prstGeom prst="line">
            <a:avLst/>
          </a:prstGeom>
          <a:ln w="2540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64807" y="1600200"/>
            <a:ext cx="13258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7" y="1709928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93B"/>
                </a:solidFill>
                <a:latin typeface="Microsoft YaHei"/>
              </a:rPr>
              <a:t>文本优化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0687" y="2002536"/>
            <a:ext cx="164592" cy="0"/>
          </a:xfrm>
          <a:prstGeom prst="line">
            <a:avLst/>
          </a:prstGeom>
          <a:ln w="2540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55279" y="1600200"/>
            <a:ext cx="1325880" cy="804672"/>
          </a:xfrm>
          <a:prstGeom prst="roundRect">
            <a:avLst/>
          </a:prstGeom>
          <a:solidFill>
            <a:srgbClr val="E0F2F7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709928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93B"/>
                </a:solidFill>
                <a:latin typeface="Microsoft YaHei"/>
              </a:rPr>
              <a:t>结果回写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81159" y="2002536"/>
            <a:ext cx="164592" cy="0"/>
          </a:xfrm>
          <a:prstGeom prst="line">
            <a:avLst/>
          </a:prstGeom>
          <a:ln w="2540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45752" y="1600200"/>
            <a:ext cx="13258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192" y="1709928"/>
            <a:ext cx="1143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93B"/>
                </a:solidFill>
                <a:latin typeface="Microsoft YaHei"/>
              </a:rPr>
              <a:t>历史/导出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880360"/>
            <a:ext cx="10972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音频先进入存储层，再由后端任务服务读取，避免文件只停留在浏览器内存里。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识别阶段拿到原始文本后，会按当前场景和热词规则继续修正，再把文本交给优化模型做结构化整理。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任务完成后，会把标题、摘要、原文、优化文、Markdown、耗时、热词命中和成本估算一起写回数据库。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这样一来，工作台、历史记录、导出中心、统计页看到的是同一份结果，不会出现各页数据断层。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技术架构与部署方式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这套平台采用前后端分离设计，适合本地演示，也保留了后续扩展空间。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73736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2514600" cy="21945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</a:rPr>
              <a:t>前端层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48840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React + Vite + TypeScript
负责工作台、历史、热词、导出和配置等页面。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173736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30168" y="1737360"/>
            <a:ext cx="2514600" cy="219456"/>
          </a:xfrm>
          <a:prstGeom prst="rect">
            <a:avLst/>
          </a:prstGeom>
          <a:solidFill>
            <a:srgbClr val="18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084831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</a:rPr>
              <a:t>后端层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68880"/>
            <a:ext cx="2148840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Spring Boot 3 + JPA + Flyway
负责任务处理、接口编排、导出生成和统计聚合。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173736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737360"/>
            <a:ext cx="2514600" cy="21945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84831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</a:rPr>
              <a:t>数据与中间件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2148840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PostgreSQL + Redis + MinIO
分别承担持久化、状态/缓存与文件对象存储。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0888" y="1737360"/>
            <a:ext cx="25146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90888" y="1737360"/>
            <a:ext cx="2514600" cy="219456"/>
          </a:xfrm>
          <a:prstGeom prst="rect">
            <a:avLst/>
          </a:prstGeom>
          <a:solidFill>
            <a:srgbClr val="18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084831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</a:rPr>
              <a:t>部署方式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468880"/>
            <a:ext cx="2148840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Docker Compose 一键拉起
适合课堂环境和演示机器快速复现。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5321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项目当前支持本地通过 Docker 启动核心服务，适合在验收现场直接演示页面、接口和导出效果。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为什么这套平台适合拿来验收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评审最关心的通常不是“页面多不多”，而是“功能是不是真的跑得通”。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463040"/>
            <a:ext cx="513892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64208"/>
            <a:ext cx="384048" cy="384048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5608" y="16184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83B5B"/>
                </a:solidFill>
                <a:latin typeface="Microsoft YaHei"/>
              </a:rPr>
              <a:t>入口真实可用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039112"/>
            <a:ext cx="4617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上传、处理、保存历史、导出、热词维护、配置保存和统计查看，都对应实际行为。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463040"/>
            <a:ext cx="513892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664208"/>
            <a:ext cx="384048" cy="384048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6184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83B5B"/>
                </a:solidFill>
                <a:latin typeface="Microsoft YaHei"/>
              </a:rPr>
              <a:t>数据链路完整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039112"/>
            <a:ext cx="4617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任务结果不是页面假数据，而是能够回到历史、导出中心和统计页继续使用。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291840"/>
            <a:ext cx="513892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493008"/>
            <a:ext cx="384048" cy="384048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8" y="34472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83B5B"/>
                </a:solidFill>
                <a:latin typeface="Microsoft YaHei"/>
              </a:rPr>
              <a:t>场景化差异明确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67912"/>
            <a:ext cx="4617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六类输入场景让结果不是一刀切输出，更容易展示产品设计思路。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3291840"/>
            <a:ext cx="513892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3493008"/>
            <a:ext cx="384048" cy="384048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472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83B5B"/>
                </a:solidFill>
                <a:latin typeface="Microsoft YaHei"/>
              </a:rPr>
              <a:t>便于现场演示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867912"/>
            <a:ext cx="4617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从工作台开始，一步步能走到历史、热词、配置和导出，流程清晰，讲起来也顺。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183B5B"/>
                </a:solidFill>
                <a:latin typeface="Microsoft YaHei"/>
              </a:rPr>
              <a:t>建议的现场演示路径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如果是答辩或平台验收，按这条线讲，节奏最顺，也最容易把亮点讲明白。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329184"/>
            <a:ext cx="73152" cy="65836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6583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1E293B"/>
                </a:solidFill>
                <a:latin typeface="Microsoft YaHei"/>
              </a:defRPr>
            </a:pPr>
            <a:r>
              <a:t>1. 在工作台选择一个输入场景，上传音频，展示原文和优化文的对比。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1E293B"/>
                </a:solidFill>
                <a:latin typeface="Microsoft YaHei"/>
              </a:defRPr>
            </a:pPr>
            <a:r>
              <a:t>2. 把结果保存到历史记录，再进入历史页说明结果如何被沉淀下来。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1E293B"/>
                </a:solidFill>
                <a:latin typeface="Microsoft YaHei"/>
              </a:defRPr>
            </a:pPr>
            <a:r>
              <a:t>3. 打开热词管理，补一条术语修正规则，说明平台为什么适合技术和专业场景。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1E293B"/>
                </a:solidFill>
                <a:latin typeface="Microsoft YaHei"/>
              </a:defRPr>
            </a:pPr>
            <a:r>
              <a:t>4. 回到工作台或历史详情，再次处理一次内容，对比修正前后的变化。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700">
                <a:solidFill>
                  <a:srgbClr val="1E293B"/>
                </a:solidFill>
                <a:latin typeface="Microsoft YaHei"/>
              </a:defRPr>
            </a:pPr>
            <a:r>
              <a:t>5. 最后进入导出中心和模型配置页，展示这套平台不仅能产出结果，还能形成交付文件和统计结果。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600200"/>
            <a:ext cx="3657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45552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0E7490"/>
                </a:solidFill>
                <a:latin typeface="Microsoft YaHei"/>
              </a:rPr>
              <a:t>讲解时建议强调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2212848"/>
            <a:ext cx="2834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350">
                <a:solidFill>
                  <a:srgbClr val="1E293B"/>
                </a:solidFill>
                <a:latin typeface="Microsoft YaHei"/>
              </a:defRPr>
            </a:pPr>
            <a:r>
              <a:t>页面不是静态稿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350">
                <a:solidFill>
                  <a:srgbClr val="1E293B"/>
                </a:solidFill>
                <a:latin typeface="Microsoft YaHei"/>
              </a:defRPr>
            </a:pPr>
            <a:r>
              <a:t>结果能回流到后续模块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350">
                <a:solidFill>
                  <a:srgbClr val="1E293B"/>
                </a:solidFill>
                <a:latin typeface="Microsoft YaHei"/>
              </a:defRPr>
            </a:pPr>
            <a:r>
              <a:t>热词和配置会影响下一次处理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350">
                <a:solidFill>
                  <a:srgbClr val="1E293B"/>
                </a:solidFill>
                <a:latin typeface="Microsoft YaHei"/>
              </a:defRPr>
            </a:pPr>
            <a:r>
              <a:t>导出文件可以直接交付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058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4B740"/>
                </a:solidFill>
                <a:latin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67665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VoiceInput Pro 已经具备一套完整的产品骨架：
能处理、能复核、能沉淀、能导出，也能解释这套结果是怎么来的。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310128"/>
            <a:ext cx="6217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50" b="0">
                <a:solidFill>
                  <a:srgbClr val="DBE5EC"/>
                </a:solidFill>
                <a:latin typeface="Microsoft YaHei"/>
              </a:rPr>
              <a:t>从项目展示角度看，它的优势不只是页面整齐，而是流程完整、数据成链、讲解有抓手。
如果后续继续扩展，这套平台也有空间往实时录音、团队协作和更多模型策略上走。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24927" y="1024128"/>
            <a:ext cx="400507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011" y="1097280"/>
            <a:ext cx="3210903" cy="4425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52943" y="5577840"/>
            <a:ext cx="3749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平台首页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VoiceInput Pro 平台介绍与验收演示稿</dc:title>
  <dc:subject>VoiceInput Pro 产品演示</dc:subject>
  <dc:creator>OpenAI Codex</dc:creator>
  <cp:keywords/>
  <dc:description>基于当前本地站点页面与功能整理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